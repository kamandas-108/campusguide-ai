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ampusguide-ai-ui78.onrender.com/" TargetMode="External"/><Relationship Id="rId2" Type="http://schemas.openxmlformats.org/officeDocument/2006/relationships/hyperlink" Target="https://github.com/kamandas-108/CampusGuide-AI/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321040" y="731520"/>
            <a:ext cx="3200400" cy="3200400"/>
          </a:xfrm>
          <a:prstGeom prst="ellipse">
            <a:avLst/>
          </a:prstGeom>
          <a:solidFill>
            <a:srgbClr val="905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18320" y="4297680"/>
            <a:ext cx="1920240" cy="1920240"/>
          </a:xfrm>
          <a:prstGeom prst="ellipse">
            <a:avLst/>
          </a:prstGeom>
          <a:solidFill>
            <a:srgbClr val="EF3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0" y="5212080"/>
            <a:ext cx="2011680" cy="2011680"/>
          </a:xfrm>
          <a:prstGeom prst="ellipse">
            <a:avLst/>
          </a:prstGeom>
          <a:solidFill>
            <a:srgbClr val="20D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498079" cy="7315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5F5FF"/>
                </a:solidFill>
                <a:latin typeface="Aptos"/>
              </a:rPr>
              <a:t>CampusGuide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01952"/>
            <a:ext cx="7498079" cy="6400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20D7F5"/>
                </a:solidFill>
                <a:latin typeface="Aptos"/>
              </a:rPr>
              <a:t>Your whole campus, one AI away.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697480"/>
            <a:ext cx="6583680" cy="9144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A6A9BE"/>
                </a:solidFill>
                <a:latin typeface="Aptos"/>
              </a:rPr>
              <a:t>An AI-powered campus companion for departments, hostels, clubs, contacts and nearby essentials.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3977639"/>
            <a:ext cx="1828800" cy="566928"/>
          </a:xfrm>
          <a:prstGeom prst="roundRect">
            <a:avLst/>
          </a:prstGeom>
          <a:solidFill>
            <a:srgbClr val="1C1B35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4050791"/>
            <a:ext cx="18288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5F5FF"/>
                </a:solidFill>
                <a:latin typeface="Aptos"/>
              </a:rPr>
              <a:t>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892040"/>
            <a:ext cx="530352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5F5FF"/>
                </a:solidFill>
                <a:latin typeface="Aptos"/>
              </a:rPr>
              <a:t>Ask your campus anything.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285232"/>
            <a:ext cx="53035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A9BE"/>
                </a:solidFill>
                <a:latin typeface="Aptos"/>
              </a:rPr>
              <a:t>ITER • SOA University • Bhubaneswar</a:t>
            </a:r>
          </a:p>
        </p:txBody>
      </p:sp>
      <p:sp>
        <p:nvSpPr>
          <p:cNvPr id="12" name="Oval 11"/>
          <p:cNvSpPr/>
          <p:nvPr/>
        </p:nvSpPr>
        <p:spPr>
          <a:xfrm>
            <a:off x="7955279" y="1417320"/>
            <a:ext cx="109728" cy="109728"/>
          </a:xfrm>
          <a:prstGeom prst="ellipse">
            <a:avLst/>
          </a:prstGeom>
          <a:solidFill>
            <a:srgbClr val="20D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522207" y="1417320"/>
            <a:ext cx="109728" cy="109728"/>
          </a:xfrm>
          <a:prstGeom prst="ellipse">
            <a:avLst/>
          </a:prstGeom>
          <a:solidFill>
            <a:srgbClr val="EF3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089136" y="1417320"/>
            <a:ext cx="109728" cy="109728"/>
          </a:xfrm>
          <a:prstGeom prst="ellipse">
            <a:avLst/>
          </a:prstGeom>
          <a:solidFill>
            <a:srgbClr val="20D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56063" y="1417320"/>
            <a:ext cx="109728" cy="109728"/>
          </a:xfrm>
          <a:prstGeom prst="ellipse">
            <a:avLst/>
          </a:prstGeom>
          <a:solidFill>
            <a:srgbClr val="EF3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222992" y="1417320"/>
            <a:ext cx="109728" cy="109728"/>
          </a:xfrm>
          <a:prstGeom prst="ellipse">
            <a:avLst/>
          </a:prstGeom>
          <a:solidFill>
            <a:srgbClr val="20D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955279" y="2240280"/>
            <a:ext cx="109728" cy="109728"/>
          </a:xfrm>
          <a:prstGeom prst="ellipse">
            <a:avLst/>
          </a:prstGeom>
          <a:solidFill>
            <a:srgbClr val="EF3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522207" y="2240280"/>
            <a:ext cx="109728" cy="109728"/>
          </a:xfrm>
          <a:prstGeom prst="ellipse">
            <a:avLst/>
          </a:prstGeom>
          <a:solidFill>
            <a:srgbClr val="20D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089136" y="2240280"/>
            <a:ext cx="109728" cy="109728"/>
          </a:xfrm>
          <a:prstGeom prst="ellipse">
            <a:avLst/>
          </a:prstGeom>
          <a:solidFill>
            <a:srgbClr val="EF3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656063" y="2240280"/>
            <a:ext cx="109728" cy="109728"/>
          </a:xfrm>
          <a:prstGeom prst="ellipse">
            <a:avLst/>
          </a:prstGeom>
          <a:solidFill>
            <a:srgbClr val="20D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222992" y="2240280"/>
            <a:ext cx="109728" cy="109728"/>
          </a:xfrm>
          <a:prstGeom prst="ellipse">
            <a:avLst/>
          </a:prstGeom>
          <a:solidFill>
            <a:srgbClr val="EF3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8010144" y="1472184"/>
            <a:ext cx="566928" cy="0"/>
          </a:xfrm>
          <a:prstGeom prst="line">
            <a:avLst/>
          </a:prstGeom>
          <a:ln w="15240">
            <a:solidFill>
              <a:srgbClr val="4C4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577072" y="1472184"/>
            <a:ext cx="566928" cy="0"/>
          </a:xfrm>
          <a:prstGeom prst="line">
            <a:avLst/>
          </a:prstGeom>
          <a:ln w="15240">
            <a:solidFill>
              <a:srgbClr val="4C4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144000" y="1472184"/>
            <a:ext cx="566928" cy="0"/>
          </a:xfrm>
          <a:prstGeom prst="line">
            <a:avLst/>
          </a:prstGeom>
          <a:ln w="15240">
            <a:solidFill>
              <a:srgbClr val="4C4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710928" y="1472184"/>
            <a:ext cx="566928" cy="0"/>
          </a:xfrm>
          <a:prstGeom prst="line">
            <a:avLst/>
          </a:prstGeom>
          <a:ln w="15240">
            <a:solidFill>
              <a:srgbClr val="4C4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10144" y="1472184"/>
            <a:ext cx="0" cy="822960"/>
          </a:xfrm>
          <a:prstGeom prst="line">
            <a:avLst/>
          </a:prstGeom>
          <a:ln w="15240">
            <a:solidFill>
              <a:srgbClr val="4C4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7072" y="1472184"/>
            <a:ext cx="0" cy="822960"/>
          </a:xfrm>
          <a:prstGeom prst="line">
            <a:avLst/>
          </a:prstGeom>
          <a:ln w="15240">
            <a:solidFill>
              <a:srgbClr val="4C4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1472184"/>
            <a:ext cx="0" cy="822960"/>
          </a:xfrm>
          <a:prstGeom prst="line">
            <a:avLst/>
          </a:prstGeom>
          <a:ln w="15240">
            <a:solidFill>
              <a:srgbClr val="4C4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0928" y="1472184"/>
            <a:ext cx="0" cy="822960"/>
          </a:xfrm>
          <a:prstGeom prst="line">
            <a:avLst/>
          </a:prstGeom>
          <a:ln w="15240">
            <a:solidFill>
              <a:srgbClr val="4C4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77856" y="1472184"/>
            <a:ext cx="0" cy="822960"/>
          </a:xfrm>
          <a:prstGeom prst="line">
            <a:avLst/>
          </a:prstGeom>
          <a:ln w="15240">
            <a:solidFill>
              <a:srgbClr val="4C4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010144" y="2295144"/>
            <a:ext cx="566928" cy="0"/>
          </a:xfrm>
          <a:prstGeom prst="line">
            <a:avLst/>
          </a:prstGeom>
          <a:ln w="15240">
            <a:solidFill>
              <a:srgbClr val="4C4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577072" y="2295144"/>
            <a:ext cx="566928" cy="0"/>
          </a:xfrm>
          <a:prstGeom prst="line">
            <a:avLst/>
          </a:prstGeom>
          <a:ln w="15240">
            <a:solidFill>
              <a:srgbClr val="4C4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144000" y="2295144"/>
            <a:ext cx="566928" cy="0"/>
          </a:xfrm>
          <a:prstGeom prst="line">
            <a:avLst/>
          </a:prstGeom>
          <a:ln w="15240">
            <a:solidFill>
              <a:srgbClr val="4C4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710928" y="2295144"/>
            <a:ext cx="566928" cy="0"/>
          </a:xfrm>
          <a:prstGeom prst="line">
            <a:avLst/>
          </a:prstGeom>
          <a:ln w="15240">
            <a:solidFill>
              <a:srgbClr val="4C4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A6A9BE"/>
                </a:solidFill>
                <a:latin typeface="Aptos"/>
              </a:rPr>
              <a:t>CampusGuide AI  •  Hackathon MVP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43891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0D7F5"/>
                </a:solidFill>
                <a:latin typeface="Aptos"/>
              </a:rP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5669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5F5FF"/>
                </a:solidFill>
                <a:latin typeface="Aptos"/>
              </a:rPr>
              <a:t>Brief about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30352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A6A9BE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11018520" cy="10972"/>
          </a:xfrm>
          <a:prstGeom prst="rect">
            <a:avLst/>
          </a:prstGeom>
          <a:solidFill>
            <a:srgbClr val="39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51560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5F5FF"/>
                </a:solidFill>
                <a:latin typeface="Aptos"/>
              </a:rPr>
              <a:t>CampusGuide AI brings fragmented campus information into one student-first interface.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48840"/>
            <a:ext cx="10501401" cy="4678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A6A9BE"/>
                </a:solidFill>
                <a:latin typeface="Aptos"/>
              </a:rPr>
              <a:t>The MVP combines structured ITER information with an authenticated AI assistant and an interactive map, so students can find the right </a:t>
            </a:r>
            <a:endParaRPr lang="en-US" sz="140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400" b="0" i="0" dirty="0">
                <a:solidFill>
                  <a:srgbClr val="A6A9BE"/>
                </a:solidFill>
                <a:latin typeface="Aptos"/>
              </a:rPr>
              <a:t>information without switching between multiple sources.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246120"/>
            <a:ext cx="2578608" cy="1965960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3401568"/>
            <a:ext cx="347472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20D7F5"/>
                </a:solidFill>
                <a:latin typeface="Aptos"/>
              </a:rPr>
              <a:t>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3410712"/>
            <a:ext cx="18288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5F5FF"/>
                </a:solidFill>
                <a:latin typeface="Aptos"/>
              </a:rPr>
              <a:t>Campus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886200"/>
            <a:ext cx="1941109" cy="61401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50" b="0" i="0" dirty="0">
                <a:solidFill>
                  <a:srgbClr val="A6A9BE"/>
                </a:solidFill>
                <a:latin typeface="Aptos"/>
              </a:rPr>
              <a:t>Departments, HOD emails, </a:t>
            </a:r>
            <a:endParaRPr lang="en-US" sz="125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250" b="0" i="0" dirty="0">
                <a:solidFill>
                  <a:srgbClr val="A6A9BE"/>
                </a:solidFill>
                <a:latin typeface="Aptos"/>
              </a:rPr>
              <a:t>key offices and important</a:t>
            </a:r>
            <a:endParaRPr lang="en-US" sz="125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250" b="0" i="0" dirty="0">
                <a:solidFill>
                  <a:srgbClr val="A6A9BE"/>
                </a:solidFill>
                <a:latin typeface="Aptos"/>
              </a:rPr>
              <a:t> contacts.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3246120"/>
            <a:ext cx="2578608" cy="1965960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9312" y="3401568"/>
            <a:ext cx="347472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9050F5"/>
                </a:solidFill>
                <a:latin typeface="Aptos"/>
              </a:rPr>
              <a:t>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410712"/>
            <a:ext cx="18288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5F5FF"/>
                </a:solidFill>
                <a:latin typeface="Aptos"/>
              </a:rPr>
              <a:t>Student life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3886200"/>
            <a:ext cx="1774204" cy="61401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50" b="0" i="0" dirty="0">
                <a:solidFill>
                  <a:srgbClr val="A6A9BE"/>
                </a:solidFill>
                <a:latin typeface="Aptos"/>
              </a:rPr>
              <a:t>Hostel information plus a</a:t>
            </a:r>
            <a:endParaRPr lang="en-US" sz="125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250" b="0" i="0" dirty="0">
                <a:solidFill>
                  <a:srgbClr val="A6A9BE"/>
                </a:solidFill>
                <a:latin typeface="Aptos"/>
              </a:rPr>
              <a:t> categorized directory of </a:t>
            </a:r>
            <a:endParaRPr lang="en-US" sz="125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250" b="0" i="0" dirty="0">
                <a:solidFill>
                  <a:srgbClr val="A6A9BE"/>
                </a:solidFill>
                <a:latin typeface="Aptos"/>
              </a:rPr>
              <a:t>20 student clubs.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3246120"/>
            <a:ext cx="2578608" cy="1965960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37376" y="3401568"/>
            <a:ext cx="347472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EF3FCC"/>
                </a:solidFill>
                <a:latin typeface="Aptos"/>
              </a:rPr>
              <a:t>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3410712"/>
            <a:ext cx="18288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5F5FF"/>
                </a:solidFill>
                <a:latin typeface="Aptos"/>
              </a:rPr>
              <a:t>Nearby essentials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886200"/>
            <a:ext cx="2158796" cy="42165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50" b="0" i="0" dirty="0">
                <a:solidFill>
                  <a:srgbClr val="A6A9BE"/>
                </a:solidFill>
                <a:latin typeface="Aptos"/>
              </a:rPr>
              <a:t>Map-based discovery for</a:t>
            </a:r>
            <a:endParaRPr lang="en-US" sz="125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250" b="0" i="0" dirty="0">
                <a:solidFill>
                  <a:srgbClr val="A6A9BE"/>
                </a:solidFill>
                <a:latin typeface="Aptos"/>
              </a:rPr>
              <a:t> useful places around campus.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3246120"/>
            <a:ext cx="2487168" cy="1965960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0" y="3401568"/>
            <a:ext cx="347472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47DEA5"/>
                </a:solidFill>
                <a:latin typeface="Aptos"/>
              </a:rPr>
              <a:t>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8" y="3410712"/>
            <a:ext cx="173736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5F5FF"/>
                </a:solidFill>
                <a:latin typeface="Aptos"/>
              </a:rPr>
              <a:t>AI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3886200"/>
            <a:ext cx="1852943" cy="61401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50" b="0" i="0" dirty="0">
                <a:solidFill>
                  <a:srgbClr val="A6A9BE"/>
                </a:solidFill>
                <a:latin typeface="Aptos"/>
              </a:rPr>
              <a:t>Authenticated chat that </a:t>
            </a:r>
            <a:endParaRPr lang="en-US" sz="125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250" b="0" i="0" dirty="0">
                <a:solidFill>
                  <a:srgbClr val="A6A9BE"/>
                </a:solidFill>
                <a:latin typeface="Aptos"/>
              </a:rPr>
              <a:t>answers from the campus </a:t>
            </a:r>
            <a:endParaRPr lang="en-US" sz="125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250" b="0" i="0" dirty="0">
                <a:solidFill>
                  <a:srgbClr val="A6A9BE"/>
                </a:solidFill>
                <a:latin typeface="Aptos"/>
              </a:rPr>
              <a:t>data and guides students.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A6A9BE"/>
                </a:solidFill>
                <a:latin typeface="Aptos"/>
              </a:rPr>
              <a:t>CampusGuide AI  •  Hackathon MVP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43891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0D7F5"/>
                </a:solidFill>
                <a:latin typeface="Aptos"/>
              </a:rPr>
              <a:t>WHY CAMPUSGUIDE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5669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5F5FF"/>
                </a:solidFill>
                <a:latin typeface="Aptos"/>
              </a:rPr>
              <a:t>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30352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A6A9BE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11018520" cy="10972"/>
          </a:xfrm>
          <a:prstGeom prst="rect">
            <a:avLst/>
          </a:prstGeom>
          <a:solidFill>
            <a:srgbClr val="39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27632"/>
            <a:ext cx="3429000" cy="4315968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783080"/>
            <a:ext cx="347472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20D7F5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5" y="1792224"/>
            <a:ext cx="2679192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5F5FF"/>
                </a:solidFill>
                <a:latin typeface="Aptos"/>
              </a:rPr>
              <a:t>A. Different from existing ideas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267712"/>
            <a:ext cx="3035831" cy="203748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0" i="0" dirty="0">
                <a:solidFill>
                  <a:srgbClr val="A6A9BE"/>
                </a:solidFill>
                <a:latin typeface="Aptos"/>
              </a:rPr>
              <a:t>Instead of being only a campus directory,</a:t>
            </a:r>
            <a:endParaRPr lang="en-US" sz="130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300" b="0" i="0" dirty="0">
                <a:solidFill>
                  <a:srgbClr val="A6A9BE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A6A9BE"/>
                </a:solidFill>
                <a:latin typeface="Aptos"/>
              </a:rPr>
              <a:t>CampusGuide</a:t>
            </a:r>
            <a:r>
              <a:rPr sz="1300" b="0" i="0" dirty="0">
                <a:solidFill>
                  <a:srgbClr val="A6A9BE"/>
                </a:solidFill>
                <a:latin typeface="Aptos"/>
              </a:rPr>
              <a:t> AI combines:
• Structured campus information
• Student clubs &amp; hostel discovery
• Nearby-place map
• AI-powered natural-language assistance
The result is a single conversational entry </a:t>
            </a:r>
            <a:endParaRPr lang="en-US" sz="130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300" b="0" i="0" dirty="0">
                <a:solidFill>
                  <a:srgbClr val="A6A9BE"/>
                </a:solidFill>
                <a:latin typeface="Aptos"/>
              </a:rPr>
              <a:t>point to campus life.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27632"/>
            <a:ext cx="3429000" cy="4315968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347472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9050F5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92224"/>
            <a:ext cx="2679192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5F5FF"/>
                </a:solidFill>
                <a:latin typeface="Aptos"/>
              </a:rPr>
              <a:t>B. How it solves 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267712"/>
            <a:ext cx="2696507" cy="143731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0" i="0" dirty="0">
                <a:solidFill>
                  <a:srgbClr val="A6A9BE"/>
                </a:solidFill>
                <a:latin typeface="Aptos"/>
              </a:rPr>
              <a:t>Students can directly browse </a:t>
            </a:r>
            <a:endParaRPr lang="en-US" sz="130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300" b="0" i="0" dirty="0">
                <a:solidFill>
                  <a:srgbClr val="A6A9BE"/>
                </a:solidFill>
                <a:latin typeface="Aptos"/>
              </a:rPr>
              <a:t>departments, contacts, hostels</a:t>
            </a:r>
            <a:endParaRPr lang="en-US" sz="130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300" b="0" i="0" dirty="0">
                <a:solidFill>
                  <a:srgbClr val="A6A9BE"/>
                </a:solidFill>
                <a:latin typeface="Aptos"/>
              </a:rPr>
              <a:t> and clubs, or ask the AI assistant for</a:t>
            </a:r>
            <a:endParaRPr lang="en-US" sz="130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300" b="0" i="0" dirty="0">
                <a:solidFill>
                  <a:srgbClr val="A6A9BE"/>
                </a:solidFill>
                <a:latin typeface="Aptos"/>
              </a:rPr>
              <a:t> help. The map section handles </a:t>
            </a:r>
            <a:endParaRPr lang="en-US" sz="130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300" b="0" i="0" dirty="0">
                <a:solidFill>
                  <a:srgbClr val="A6A9BE"/>
                </a:solidFill>
                <a:latin typeface="Aptos"/>
              </a:rPr>
              <a:t>location-based needs such as cafés, </a:t>
            </a:r>
            <a:endParaRPr lang="en-US" sz="130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300" b="0" i="0" dirty="0">
                <a:solidFill>
                  <a:srgbClr val="A6A9BE"/>
                </a:solidFill>
                <a:latin typeface="Aptos"/>
              </a:rPr>
              <a:t>pharmacies, ATMs, stationery and </a:t>
            </a:r>
            <a:endParaRPr lang="en-US" sz="130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300" b="0" i="0" dirty="0">
                <a:solidFill>
                  <a:srgbClr val="A6A9BE"/>
                </a:solidFill>
                <a:latin typeface="Aptos"/>
              </a:rPr>
              <a:t>other essentials.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627632"/>
            <a:ext cx="3429000" cy="4315968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783080"/>
            <a:ext cx="347472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EF3FCC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792224"/>
            <a:ext cx="2679192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5F5FF"/>
                </a:solidFill>
                <a:latin typeface="Aptos"/>
              </a:rPr>
              <a:t>C. USP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267712"/>
            <a:ext cx="2998706" cy="163737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0" i="0" dirty="0">
                <a:solidFill>
                  <a:srgbClr val="A6A9BE"/>
                </a:solidFill>
                <a:latin typeface="Aptos"/>
              </a:rPr>
              <a:t>“Everything a student needs — from</a:t>
            </a:r>
            <a:endParaRPr lang="en-US" sz="130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300" b="0" i="0" dirty="0">
                <a:solidFill>
                  <a:srgbClr val="A6A9BE"/>
                </a:solidFill>
                <a:latin typeface="Aptos"/>
              </a:rPr>
              <a:t> campus information to nearby essentials</a:t>
            </a:r>
            <a:endParaRPr lang="en-US" sz="130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300" b="0" i="0" dirty="0">
                <a:solidFill>
                  <a:srgbClr val="A6A9BE"/>
                </a:solidFill>
                <a:latin typeface="Aptos"/>
              </a:rPr>
              <a:t> — in one AI-powered platform.”
The strongest differentiator is the </a:t>
            </a:r>
            <a:endParaRPr lang="en-US" sz="130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300" b="0" i="0" dirty="0">
                <a:solidFill>
                  <a:srgbClr val="A6A9BE"/>
                </a:solidFill>
                <a:latin typeface="Aptos"/>
              </a:rPr>
              <a:t>combination of campus knowledge + </a:t>
            </a:r>
            <a:endParaRPr lang="en-US" sz="130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300" b="0" i="0" dirty="0">
                <a:solidFill>
                  <a:srgbClr val="A6A9BE"/>
                </a:solidFill>
                <a:latin typeface="Aptos"/>
              </a:rPr>
              <a:t>AI guidance + location discovery in one</a:t>
            </a:r>
            <a:endParaRPr lang="en-US" sz="130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300" b="0" i="0" dirty="0">
                <a:solidFill>
                  <a:srgbClr val="A6A9BE"/>
                </a:solidFill>
                <a:latin typeface="Aptos"/>
              </a:rPr>
              <a:t> lightweight MVP.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A6A9BE"/>
                </a:solidFill>
                <a:latin typeface="Aptos"/>
              </a:rPr>
              <a:t>CampusGuide AI  •  Hackathon MVP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43891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0D7F5"/>
                </a:solidFill>
                <a:latin typeface="Aptos"/>
              </a:rP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5669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5F5FF"/>
                </a:solidFill>
                <a:latin typeface="Aptos"/>
              </a:rPr>
              <a:t>Features offered by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30352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A6A9BE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11018520" cy="10972"/>
          </a:xfrm>
          <a:prstGeom prst="rect">
            <a:avLst/>
          </a:prstGeom>
          <a:solidFill>
            <a:srgbClr val="39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5230368" cy="1170432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801368"/>
            <a:ext cx="438912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0D7F5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1755648"/>
            <a:ext cx="4270248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5F5FF"/>
                </a:solidFill>
                <a:latin typeface="Aptos"/>
              </a:rPr>
              <a:t>Departments &amp; Contacts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2130552"/>
            <a:ext cx="4242816" cy="49377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80" b="0" i="0">
                <a:solidFill>
                  <a:srgbClr val="A6A9BE"/>
                </a:solidFill>
                <a:latin typeface="Aptos"/>
              </a:rPr>
              <a:t>Department directory with HOD emails and key institute offices.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600200"/>
            <a:ext cx="5230368" cy="1170432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91655" y="1801368"/>
            <a:ext cx="438912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9050F5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0296" y="1755648"/>
            <a:ext cx="4270248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5F5FF"/>
                </a:solidFill>
                <a:latin typeface="Aptos"/>
              </a:rPr>
              <a:t>Hostels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2130552"/>
            <a:ext cx="3667735" cy="3693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80" b="0" i="0" dirty="0">
                <a:solidFill>
                  <a:srgbClr val="A6A9BE"/>
                </a:solidFill>
                <a:latin typeface="Aptos"/>
              </a:rPr>
              <a:t>Boys’ and girls’ hostel information, facilities and a dedicated </a:t>
            </a:r>
            <a:endParaRPr lang="en-US" sz="108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080" b="0" i="0" dirty="0">
                <a:solidFill>
                  <a:srgbClr val="A6A9BE"/>
                </a:solidFill>
                <a:latin typeface="Aptos"/>
              </a:rPr>
              <a:t>rules/wardens section.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017520"/>
            <a:ext cx="5230368" cy="1170432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3218688"/>
            <a:ext cx="438912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F3FCC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172968"/>
            <a:ext cx="4270248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5F5FF"/>
                </a:solidFill>
                <a:latin typeface="Aptos"/>
              </a:rPr>
              <a:t>Student Clubs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3547872"/>
            <a:ext cx="3967496" cy="3693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80" b="0" i="0" dirty="0">
                <a:solidFill>
                  <a:srgbClr val="A6A9BE"/>
                </a:solidFill>
                <a:latin typeface="Aptos"/>
              </a:rPr>
              <a:t>20 clubs grouped by Coding, Automation, Art, Cultural, Research, </a:t>
            </a:r>
            <a:endParaRPr lang="en-US" sz="108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080" b="0" i="0" dirty="0">
                <a:solidFill>
                  <a:srgbClr val="A6A9BE"/>
                </a:solidFill>
                <a:latin typeface="Aptos"/>
              </a:rPr>
              <a:t>Communities and more.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3017520"/>
            <a:ext cx="5230368" cy="1170432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91655" y="3218688"/>
            <a:ext cx="438912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47DEA5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0296" y="3172968"/>
            <a:ext cx="4270248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5F5FF"/>
                </a:solidFill>
                <a:latin typeface="Aptos"/>
              </a:rPr>
              <a:t>Campus &amp; Nearby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547872"/>
            <a:ext cx="4095737" cy="3693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80" b="0" i="0" dirty="0">
                <a:solidFill>
                  <a:srgbClr val="A6A9BE"/>
                </a:solidFill>
                <a:latin typeface="Aptos"/>
              </a:rPr>
              <a:t>Interactive map for campus and useful nearby places such as cafés,</a:t>
            </a:r>
            <a:endParaRPr lang="en-US" sz="108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080" b="0" i="0" dirty="0">
                <a:solidFill>
                  <a:srgbClr val="A6A9BE"/>
                </a:solidFill>
                <a:latin typeface="Aptos"/>
              </a:rPr>
              <a:t> ATMs, pharmacies and stationery shops.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34840"/>
            <a:ext cx="5230368" cy="1170432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" y="4636007"/>
            <a:ext cx="438912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0D7F5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4590288"/>
            <a:ext cx="4270248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5F5FF"/>
                </a:solidFill>
                <a:latin typeface="Aptos"/>
              </a:rPr>
              <a:t>AI Campus Assistant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4965192"/>
            <a:ext cx="4268861" cy="3693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80" b="0" i="0" dirty="0">
                <a:solidFill>
                  <a:srgbClr val="A6A9BE"/>
                </a:solidFill>
                <a:latin typeface="Aptos"/>
              </a:rPr>
              <a:t>Authenticated Gemini-powered chat that answers using the available </a:t>
            </a:r>
            <a:endParaRPr lang="en-US" sz="108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080" b="0" i="0" dirty="0">
                <a:solidFill>
                  <a:srgbClr val="A6A9BE"/>
                </a:solidFill>
                <a:latin typeface="Aptos"/>
              </a:rPr>
              <a:t>campus dataset and points users to the Map section for nearby places.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A6A9BE"/>
                </a:solidFill>
                <a:latin typeface="Aptos"/>
              </a:rPr>
              <a:t>CampusGuide AI  •  Hackathon MVP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43891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0D7F5"/>
                </a:solidFill>
                <a:latin typeface="Aptos"/>
              </a:rPr>
              <a:t>STUDENT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5669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5F5FF"/>
                </a:solidFill>
                <a:latin typeface="Aptos"/>
              </a:rPr>
              <a:t>Process flow /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30352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A6A9BE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11018520" cy="10972"/>
          </a:xfrm>
          <a:prstGeom prst="rect">
            <a:avLst/>
          </a:prstGeom>
          <a:solidFill>
            <a:srgbClr val="39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98755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A9BE"/>
                </a:solidFill>
                <a:latin typeface="Aptos"/>
              </a:rPr>
              <a:t>A simple flow from sign-in to information discovery or AI guidance.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1828800" cy="2240280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7008" y="2542032"/>
            <a:ext cx="603504" cy="603504"/>
          </a:xfrm>
          <a:prstGeom prst="ellipse">
            <a:avLst/>
          </a:prstGeom>
          <a:solidFill>
            <a:srgbClr val="20D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07008" y="2624328"/>
            <a:ext cx="603504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7071C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337560"/>
            <a:ext cx="1499616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5F5FF"/>
                </a:solidFill>
                <a:latin typeface="Aptos"/>
              </a:rPr>
              <a:t>Open CampusGuide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122" y="3822191"/>
            <a:ext cx="1933285" cy="32932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lang="en-US" sz="950" b="0" i="0" dirty="0">
                <a:solidFill>
                  <a:srgbClr val="A6A9BE"/>
                </a:solidFill>
                <a:latin typeface="Aptos"/>
              </a:rPr>
              <a:t>               </a:t>
            </a:r>
            <a:r>
              <a:rPr sz="950" b="0" i="0" dirty="0">
                <a:solidFill>
                  <a:srgbClr val="A6A9BE"/>
                </a:solidFill>
                <a:latin typeface="Aptos"/>
              </a:rPr>
              <a:t>Student reaches the campus </a:t>
            </a:r>
            <a:endParaRPr lang="en-US" sz="950" b="0" i="0" dirty="0">
              <a:solidFill>
                <a:srgbClr val="A6A9BE"/>
              </a:solidFill>
              <a:latin typeface="Aptos"/>
            </a:endParaRPr>
          </a:p>
          <a:p>
            <a:pPr algn="ctr"/>
            <a:r>
              <a:rPr sz="950" b="0" i="0" dirty="0">
                <a:solidFill>
                  <a:srgbClr val="A6A9BE"/>
                </a:solidFill>
                <a:latin typeface="Aptos"/>
              </a:rPr>
              <a:t>companion.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41448" y="3447288"/>
            <a:ext cx="393192" cy="0"/>
          </a:xfrm>
          <a:prstGeom prst="line">
            <a:avLst/>
          </a:prstGeom>
          <a:ln w="25400">
            <a:solidFill>
              <a:srgbClr val="5A5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331720"/>
            <a:ext cx="1828800" cy="2240280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93008" y="2542032"/>
            <a:ext cx="603504" cy="603504"/>
          </a:xfrm>
          <a:prstGeom prst="ellipse">
            <a:avLst/>
          </a:prstGeom>
          <a:solidFill>
            <a:srgbClr val="905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93008" y="2624328"/>
            <a:ext cx="603504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7071C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2" y="3337560"/>
            <a:ext cx="1499616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5F5FF"/>
                </a:solidFill>
                <a:latin typeface="Aptos"/>
              </a:rPr>
              <a:t>Sign in / Register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9833" y="3822191"/>
            <a:ext cx="1809854" cy="32932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lang="en-US" sz="950" b="0" i="0" dirty="0">
                <a:solidFill>
                  <a:srgbClr val="A6A9BE"/>
                </a:solidFill>
                <a:latin typeface="Aptos"/>
              </a:rPr>
              <a:t>          </a:t>
            </a:r>
            <a:r>
              <a:rPr sz="950" b="0" i="0" dirty="0">
                <a:solidFill>
                  <a:srgbClr val="A6A9BE"/>
                </a:solidFill>
                <a:latin typeface="Aptos"/>
              </a:rPr>
              <a:t>Authentication unlocks</a:t>
            </a:r>
            <a:endParaRPr lang="en-US" sz="950" b="0" i="0" dirty="0">
              <a:solidFill>
                <a:srgbClr val="A6A9BE"/>
              </a:solidFill>
              <a:latin typeface="Aptos"/>
            </a:endParaRPr>
          </a:p>
          <a:p>
            <a:pPr algn="ctr"/>
            <a:r>
              <a:rPr sz="950" b="0" i="0" dirty="0">
                <a:solidFill>
                  <a:srgbClr val="A6A9BE"/>
                </a:solidFill>
                <a:latin typeface="Aptos"/>
              </a:rPr>
              <a:t> personalized access and AI chat.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27448" y="3447288"/>
            <a:ext cx="393192" cy="0"/>
          </a:xfrm>
          <a:prstGeom prst="line">
            <a:avLst/>
          </a:prstGeom>
          <a:ln w="25400">
            <a:solidFill>
              <a:srgbClr val="5A5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66360" y="2331720"/>
            <a:ext cx="1828800" cy="2240280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779008" y="2542032"/>
            <a:ext cx="603504" cy="603504"/>
          </a:xfrm>
          <a:prstGeom prst="ellipse">
            <a:avLst/>
          </a:prstGeom>
          <a:solidFill>
            <a:srgbClr val="EF3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79008" y="2624328"/>
            <a:ext cx="603504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7071C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2" y="3337560"/>
            <a:ext cx="1499616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5F5FF"/>
                </a:solidFill>
                <a:latin typeface="Aptos"/>
              </a:rPr>
              <a:t>Choose a need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466" y="3822191"/>
            <a:ext cx="1774588" cy="32932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lang="en-US" sz="950" b="0" i="0" dirty="0">
                <a:solidFill>
                  <a:srgbClr val="A6A9BE"/>
                </a:solidFill>
                <a:latin typeface="Aptos"/>
              </a:rPr>
              <a:t>     </a:t>
            </a:r>
            <a:r>
              <a:rPr sz="950" b="0" i="0" dirty="0">
                <a:solidFill>
                  <a:srgbClr val="A6A9BE"/>
                </a:solidFill>
                <a:latin typeface="Aptos"/>
              </a:rPr>
              <a:t>Departments • Hostels • Club</a:t>
            </a:r>
            <a:endParaRPr lang="en-US" sz="950" b="0" i="0" dirty="0">
              <a:solidFill>
                <a:srgbClr val="A6A9BE"/>
              </a:solidFill>
              <a:latin typeface="Aptos"/>
            </a:endParaRPr>
          </a:p>
          <a:p>
            <a:pPr algn="ctr"/>
            <a:r>
              <a:rPr sz="950" b="0" i="0" dirty="0">
                <a:solidFill>
                  <a:srgbClr val="A6A9BE"/>
                </a:solidFill>
                <a:latin typeface="Aptos"/>
              </a:rPr>
              <a:t>s • Map • AI Assistant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13448" y="3447288"/>
            <a:ext cx="393192" cy="0"/>
          </a:xfrm>
          <a:prstGeom prst="line">
            <a:avLst/>
          </a:prstGeom>
          <a:ln w="25400">
            <a:solidFill>
              <a:srgbClr val="5A5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52360" y="2331720"/>
            <a:ext cx="1828800" cy="2240280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065008" y="2542032"/>
            <a:ext cx="603504" cy="603504"/>
          </a:xfrm>
          <a:prstGeom prst="ellipse">
            <a:avLst/>
          </a:prstGeom>
          <a:solidFill>
            <a:srgbClr val="47D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65008" y="2624328"/>
            <a:ext cx="603504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7071C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6952" y="3337560"/>
            <a:ext cx="1499616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5F5FF"/>
                </a:solidFill>
                <a:latin typeface="Aptos"/>
              </a:rPr>
              <a:t>Get the 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7593" y="3822191"/>
            <a:ext cx="1638333" cy="32932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lang="en-US" sz="950" b="0" i="0" dirty="0">
                <a:solidFill>
                  <a:srgbClr val="A6A9BE"/>
                </a:solidFill>
                <a:latin typeface="Aptos"/>
              </a:rPr>
              <a:t>  </a:t>
            </a:r>
            <a:r>
              <a:rPr sz="950" b="0" i="0" dirty="0">
                <a:solidFill>
                  <a:srgbClr val="A6A9BE"/>
                </a:solidFill>
                <a:latin typeface="Aptos"/>
              </a:rPr>
              <a:t>Browse structured data, </a:t>
            </a:r>
            <a:endParaRPr lang="en-US" sz="950" b="0" i="0" dirty="0">
              <a:solidFill>
                <a:srgbClr val="A6A9BE"/>
              </a:solidFill>
              <a:latin typeface="Aptos"/>
            </a:endParaRPr>
          </a:p>
          <a:p>
            <a:pPr algn="ctr"/>
            <a:r>
              <a:rPr sz="950" b="0" i="0" dirty="0">
                <a:solidFill>
                  <a:srgbClr val="A6A9BE"/>
                </a:solidFill>
                <a:latin typeface="Aptos"/>
              </a:rPr>
              <a:t>discover places, or ask the AI.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99448" y="3447288"/>
            <a:ext cx="393192" cy="0"/>
          </a:xfrm>
          <a:prstGeom prst="line">
            <a:avLst/>
          </a:prstGeom>
          <a:ln w="25400">
            <a:solidFill>
              <a:srgbClr val="5A5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738360" y="2331720"/>
            <a:ext cx="1828800" cy="2240280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351008" y="2542032"/>
            <a:ext cx="603504" cy="603504"/>
          </a:xfrm>
          <a:prstGeom prst="ellipse">
            <a:avLst/>
          </a:prstGeom>
          <a:solidFill>
            <a:srgbClr val="20D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51008" y="2624328"/>
            <a:ext cx="603504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7071C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2952" y="3337560"/>
            <a:ext cx="1499616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5F5FF"/>
                </a:solidFill>
                <a:latin typeface="Aptos"/>
              </a:rPr>
              <a:t>Take 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0928" y="3822191"/>
            <a:ext cx="1923668" cy="329321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lang="en-US" sz="950" b="0" i="0" dirty="0">
                <a:solidFill>
                  <a:srgbClr val="A6A9BE"/>
                </a:solidFill>
                <a:latin typeface="Aptos"/>
              </a:rPr>
              <a:t>          </a:t>
            </a:r>
            <a:r>
              <a:rPr sz="950" b="0" i="0" dirty="0">
                <a:solidFill>
                  <a:srgbClr val="A6A9BE"/>
                </a:solidFill>
                <a:latin typeface="Aptos"/>
              </a:rPr>
              <a:t>Email a department, follow a</a:t>
            </a:r>
            <a:endParaRPr lang="en-US" sz="950" b="0" i="0" dirty="0">
              <a:solidFill>
                <a:srgbClr val="A6A9BE"/>
              </a:solidFill>
              <a:latin typeface="Aptos"/>
            </a:endParaRPr>
          </a:p>
          <a:p>
            <a:pPr algn="ctr"/>
            <a:r>
              <a:rPr sz="950" b="0" i="0" dirty="0">
                <a:solidFill>
                  <a:srgbClr val="A6A9BE"/>
                </a:solidFill>
                <a:latin typeface="Aptos"/>
              </a:rPr>
              <a:t> club, or navigate to a nearby place.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257800"/>
            <a:ext cx="1005840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5F5FF"/>
                </a:solidFill>
                <a:latin typeface="Aptos"/>
              </a:rPr>
              <a:t>Example: “Where can I contact the CSIT department?” → Department directory → HOD email → action.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A6A9BE"/>
                </a:solidFill>
                <a:latin typeface="Aptos"/>
              </a:rPr>
              <a:t>CampusGuide AI  •  Hackathon MVP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43891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0D7F5"/>
                </a:solidFill>
                <a:latin typeface="Aptos"/>
              </a:rPr>
              <a:t>CONCEPTUAL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5669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5F5FF"/>
                </a:solidFill>
                <a:latin typeface="Aptos"/>
              </a:rPr>
              <a:t>Wireframes / Mock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30352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A6A9BE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11018520" cy="10972"/>
          </a:xfrm>
          <a:prstGeom prst="rect">
            <a:avLst/>
          </a:prstGeom>
          <a:solidFill>
            <a:srgbClr val="39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5156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A6A9BE"/>
                </a:solidFill>
                <a:latin typeface="Aptos"/>
              </a:rPr>
              <a:t>Low-fidelity layout sketches — these are design diagrams, not screenshots.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166360" cy="3566160"/>
          </a:xfrm>
          <a:prstGeom prst="roundRect">
            <a:avLst/>
          </a:prstGeom>
          <a:solidFill>
            <a:srgbClr val="0E0E21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95528" y="2103120"/>
            <a:ext cx="4892040" cy="411480"/>
          </a:xfrm>
          <a:prstGeom prst="roundRect">
            <a:avLst/>
          </a:prstGeom>
          <a:solidFill>
            <a:srgbClr val="17172D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185415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20D7F5"/>
                </a:solidFill>
                <a:latin typeface="Aptos"/>
              </a:rPr>
              <a:t>LOGO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8" y="2185415"/>
            <a:ext cx="530352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720" b="0" i="0">
                <a:solidFill>
                  <a:srgbClr val="A6A9BE"/>
                </a:solidFill>
                <a:latin typeface="Aptos"/>
              </a:rPr>
              <a:t>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185415"/>
            <a:ext cx="530352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720" b="0" i="0">
                <a:solidFill>
                  <a:srgbClr val="A6A9BE"/>
                </a:solidFill>
                <a:latin typeface="Aptos"/>
              </a:rPr>
              <a:t>Departments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2185415"/>
            <a:ext cx="530352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720" b="0" i="0">
                <a:solidFill>
                  <a:srgbClr val="A6A9BE"/>
                </a:solidFill>
                <a:latin typeface="Aptos"/>
              </a:rPr>
              <a:t>Hostels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185415"/>
            <a:ext cx="530352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720" b="0" i="0">
                <a:solidFill>
                  <a:srgbClr val="A6A9BE"/>
                </a:solidFill>
                <a:latin typeface="Aptos"/>
              </a:rPr>
              <a:t>Clubs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05656" y="2185415"/>
            <a:ext cx="530352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720" b="0" i="0">
                <a:solidFill>
                  <a:srgbClr val="A6A9BE"/>
                </a:solidFill>
                <a:latin typeface="Aptos"/>
              </a:rPr>
              <a:t>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185415"/>
            <a:ext cx="530352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720" b="0" i="0">
                <a:solidFill>
                  <a:srgbClr val="A6A9BE"/>
                </a:solidFill>
                <a:latin typeface="Aptos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7" y="2770632"/>
            <a:ext cx="2686507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F5FF"/>
                </a:solidFill>
                <a:latin typeface="Aptos"/>
              </a:rPr>
              <a:t>Hero / campus 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7" y="3200400"/>
            <a:ext cx="2686507" cy="384048"/>
          </a:xfrm>
          <a:prstGeom prst="roundRect">
            <a:avLst/>
          </a:prstGeom>
          <a:solidFill>
            <a:srgbClr val="191931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33856" y="3310128"/>
            <a:ext cx="2324862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50" b="0" i="0">
                <a:solidFill>
                  <a:srgbClr val="A6A9BE"/>
                </a:solidFill>
                <a:latin typeface="Aptos"/>
              </a:rPr>
              <a:t>Ask your campus anything…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3931920"/>
            <a:ext cx="774954" cy="502920"/>
          </a:xfrm>
          <a:prstGeom prst="roundRect">
            <a:avLst/>
          </a:prstGeom>
          <a:solidFill>
            <a:srgbClr val="1616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7" y="4105656"/>
            <a:ext cx="774954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F5F5FF"/>
                </a:solidFill>
                <a:latin typeface="Aptos"/>
              </a:rPr>
              <a:t>Departments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08352" y="3931920"/>
            <a:ext cx="774954" cy="502920"/>
          </a:xfrm>
          <a:prstGeom prst="roundRect">
            <a:avLst/>
          </a:prstGeom>
          <a:solidFill>
            <a:srgbClr val="1616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908352" y="4105656"/>
            <a:ext cx="774954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F5F5FF"/>
                </a:solidFill>
                <a:latin typeface="Aptos"/>
              </a:rPr>
              <a:t>Clubs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8297" y="3931920"/>
            <a:ext cx="774954" cy="502920"/>
          </a:xfrm>
          <a:prstGeom prst="roundRect">
            <a:avLst/>
          </a:prstGeom>
          <a:solidFill>
            <a:srgbClr val="1616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38297" y="4105656"/>
            <a:ext cx="774954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750" b="1" i="0">
                <a:solidFill>
                  <a:srgbClr val="F5F5FF"/>
                </a:solidFill>
                <a:latin typeface="Aptos"/>
              </a:rPr>
              <a:t>Map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64838" y="2743200"/>
            <a:ext cx="1394917" cy="1737360"/>
          </a:xfrm>
          <a:prstGeom prst="roundRect">
            <a:avLst/>
          </a:prstGeom>
          <a:solidFill>
            <a:srgbClr val="13132A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23156" y="2971800"/>
            <a:ext cx="929944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9050F5"/>
                </a:solidFill>
                <a:latin typeface="Aptos"/>
              </a:rPr>
              <a:t>Visual /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3156" y="3383280"/>
            <a:ext cx="929944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00" b="0" i="0">
                <a:solidFill>
                  <a:srgbClr val="A6A9BE"/>
                </a:solidFill>
                <a:latin typeface="Aptos"/>
              </a:rPr>
              <a:t>campus
illustration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1965960"/>
            <a:ext cx="5321808" cy="3566160"/>
          </a:xfrm>
          <a:prstGeom prst="roundRect">
            <a:avLst/>
          </a:prstGeom>
          <a:solidFill>
            <a:srgbClr val="0E0E21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336792" y="2103120"/>
            <a:ext cx="5047488" cy="384048"/>
          </a:xfrm>
          <a:prstGeom prst="roundRect">
            <a:avLst/>
          </a:prstGeom>
          <a:solidFill>
            <a:srgbClr val="17172D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73952" y="2203704"/>
            <a:ext cx="109728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50" b="1" i="0">
                <a:solidFill>
                  <a:srgbClr val="20D7F5"/>
                </a:solidFill>
                <a:latin typeface="Aptos"/>
              </a:rPr>
              <a:t>PAGE TITLE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4120" y="2203704"/>
            <a:ext cx="1143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700" b="0" i="0">
                <a:solidFill>
                  <a:srgbClr val="A6A9BE"/>
                </a:solidFill>
                <a:latin typeface="Aptos"/>
              </a:rPr>
              <a:t>search / filter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73952" y="2715768"/>
            <a:ext cx="4773168" cy="438912"/>
          </a:xfrm>
          <a:prstGeom prst="roundRect">
            <a:avLst/>
          </a:prstGeom>
          <a:solidFill>
            <a:srgbClr val="1616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38544" y="2852928"/>
            <a:ext cx="276734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80" b="1" i="0">
                <a:solidFill>
                  <a:srgbClr val="F5F5FF"/>
                </a:solidFill>
                <a:latin typeface="Aptos"/>
              </a:rPr>
              <a:t>item / department / club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2852928"/>
            <a:ext cx="749808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720" b="0" i="0">
                <a:solidFill>
                  <a:srgbClr val="20D7F5"/>
                </a:solidFill>
                <a:latin typeface="Aptos"/>
              </a:rPr>
              <a:t>details 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73952" y="3291839"/>
            <a:ext cx="4773168" cy="438912"/>
          </a:xfrm>
          <a:prstGeom prst="roundRect">
            <a:avLst/>
          </a:prstGeom>
          <a:solidFill>
            <a:srgbClr val="1616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38544" y="3429000"/>
            <a:ext cx="276734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80" b="1" i="0">
                <a:solidFill>
                  <a:srgbClr val="F5F5FF"/>
                </a:solidFill>
                <a:latin typeface="Aptos"/>
              </a:rPr>
              <a:t>item / department /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3429000"/>
            <a:ext cx="749808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720" b="0" i="0">
                <a:solidFill>
                  <a:srgbClr val="20D7F5"/>
                </a:solidFill>
                <a:latin typeface="Aptos"/>
              </a:rPr>
              <a:t>details 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73952" y="3867911"/>
            <a:ext cx="4773168" cy="438912"/>
          </a:xfrm>
          <a:prstGeom prst="roundRect">
            <a:avLst/>
          </a:prstGeom>
          <a:solidFill>
            <a:srgbClr val="1616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38544" y="4005072"/>
            <a:ext cx="276734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80" b="1" i="0">
                <a:solidFill>
                  <a:srgbClr val="F5F5FF"/>
                </a:solidFill>
                <a:latin typeface="Aptos"/>
              </a:rPr>
              <a:t>item / department / club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4005072"/>
            <a:ext cx="749808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720" b="0" i="0">
                <a:solidFill>
                  <a:srgbClr val="20D7F5"/>
                </a:solidFill>
                <a:latin typeface="Aptos"/>
              </a:rPr>
              <a:t>details 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4519" y="5687568"/>
            <a:ext cx="27432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5F5FF"/>
                </a:solidFill>
                <a:latin typeface="Aptos"/>
              </a:rPr>
              <a:t>Dashboard / Home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5687568"/>
            <a:ext cx="292608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5F5FF"/>
                </a:solidFill>
                <a:latin typeface="Aptos"/>
              </a:rPr>
              <a:t>Directory / category page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A6A9BE"/>
                </a:solidFill>
                <a:latin typeface="Aptos"/>
              </a:rPr>
              <a:t>CampusGuide AI  •  Hackathon MVP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43891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0D7F5"/>
                </a:solidFill>
                <a:latin typeface="Aptos"/>
              </a:rP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5669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5F5FF"/>
                </a:solidFill>
                <a:latin typeface="Aptos"/>
              </a:rPr>
              <a:t>Architecture of the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30352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A6A9BE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11018520" cy="10972"/>
          </a:xfrm>
          <a:prstGeom prst="rect">
            <a:avLst/>
          </a:prstGeom>
          <a:solidFill>
            <a:srgbClr val="39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44200" cy="868680"/>
          </a:xfrm>
          <a:prstGeom prst="roundRect">
            <a:avLst/>
          </a:prstGeom>
          <a:solidFill>
            <a:srgbClr val="13132A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274320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5F5FF"/>
                </a:solidFill>
                <a:latin typeface="Aptos"/>
              </a:rPr>
              <a:t>FRONTEND  •  index.html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847088"/>
            <a:ext cx="722376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6A9BE"/>
                </a:solidFill>
                <a:latin typeface="Aptos"/>
              </a:rPr>
              <a:t>Dashboard • Departments • Hostels • Clubs • Map • AI Assistant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10744200" cy="868680"/>
          </a:xfrm>
          <a:prstGeom prst="roundRect">
            <a:avLst/>
          </a:prstGeom>
          <a:solidFill>
            <a:srgbClr val="13132A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990088"/>
            <a:ext cx="274320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5F5FF"/>
                </a:solidFill>
                <a:latin typeface="Aptos"/>
              </a:rPr>
              <a:t>BACKEND  •  Flask / Gunicorn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90088"/>
            <a:ext cx="722376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A6A9BE"/>
                </a:solidFill>
                <a:latin typeface="Aptos"/>
              </a:rPr>
              <a:t>REST APIs • auth tokens • campus data • chat orchestration • health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120640" cy="1234440"/>
          </a:xfrm>
          <a:prstGeom prst="roundRect">
            <a:avLst/>
          </a:prstGeom>
          <a:solidFill>
            <a:srgbClr val="13132A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178808"/>
            <a:ext cx="347472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0D7F5"/>
                </a:solidFill>
                <a:latin typeface="Aptos"/>
              </a:rPr>
              <a:t>DATABASE  •  Neon 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544568"/>
            <a:ext cx="4480560" cy="4754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A9BE"/>
                </a:solidFill>
                <a:latin typeface="Aptos"/>
              </a:rPr>
              <a:t>users table
name • email • password hash • created_at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931920"/>
            <a:ext cx="5120640" cy="1234440"/>
          </a:xfrm>
          <a:prstGeom prst="roundRect">
            <a:avLst/>
          </a:prstGeom>
          <a:solidFill>
            <a:srgbClr val="13132A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4178808"/>
            <a:ext cx="27432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EF3FCC"/>
                </a:solidFill>
                <a:latin typeface="Aptos"/>
              </a:rPr>
              <a:t>EXTERNAL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544568"/>
            <a:ext cx="4480560" cy="4754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A9BE"/>
                </a:solidFill>
                <a:latin typeface="Aptos"/>
              </a:rPr>
              <a:t>Gemini API  •  OpenStreetMap / Leaflet / Overpass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2514600"/>
            <a:ext cx="0" cy="228600"/>
          </a:xfrm>
          <a:prstGeom prst="line">
            <a:avLst/>
          </a:prstGeom>
          <a:ln w="25400">
            <a:solidFill>
              <a:srgbClr val="5A5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0760" y="3657600"/>
            <a:ext cx="0" cy="228600"/>
          </a:xfrm>
          <a:prstGeom prst="line">
            <a:avLst/>
          </a:prstGeom>
          <a:ln w="25400">
            <a:solidFill>
              <a:srgbClr val="5A5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246120" y="3657600"/>
            <a:ext cx="0" cy="228600"/>
          </a:xfrm>
          <a:prstGeom prst="line">
            <a:avLst/>
          </a:prstGeom>
          <a:ln w="25400">
            <a:solidFill>
              <a:srgbClr val="5A5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915400" y="3657600"/>
            <a:ext cx="0" cy="228600"/>
          </a:xfrm>
          <a:prstGeom prst="line">
            <a:avLst/>
          </a:prstGeom>
          <a:ln w="25400">
            <a:solidFill>
              <a:srgbClr val="5A58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51560" y="5623560"/>
            <a:ext cx="1005840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5F5FF"/>
                </a:solidFill>
                <a:latin typeface="Aptos"/>
              </a:rPr>
              <a:t>Flow: Student UI → Flask APIs → Neon / Gemini / map services → response back to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A6A9BE"/>
                </a:solidFill>
                <a:latin typeface="Aptos"/>
              </a:rPr>
              <a:t>CampusGuide AI  •  Hackathon MVP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43891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0D7F5"/>
                </a:solidFill>
                <a:latin typeface="Aptos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5669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5F5FF"/>
                </a:solidFill>
                <a:latin typeface="Aptos"/>
              </a:rPr>
              <a:t>Technologies used in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30352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A6A9BE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11018520" cy="10972"/>
          </a:xfrm>
          <a:prstGeom prst="rect">
            <a:avLst/>
          </a:prstGeom>
          <a:solidFill>
            <a:srgbClr val="39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230368" cy="877824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709928"/>
            <a:ext cx="475488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F5F5FF"/>
                </a:solidFill>
                <a:latin typeface="Aptos"/>
              </a:rPr>
              <a:t>HTML + CSS + 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039112"/>
            <a:ext cx="4754880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A6A9BE"/>
                </a:solidFill>
                <a:latin typeface="Aptos"/>
              </a:rPr>
              <a:t>Responsive single-page frontend and interactive UI.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230368" cy="877824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91655" y="1709928"/>
            <a:ext cx="475488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F5F5FF"/>
                </a:solidFill>
                <a:latin typeface="Aptos"/>
              </a:rPr>
              <a:t>Python + Flask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655" y="2039112"/>
            <a:ext cx="4754880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A6A9BE"/>
                </a:solidFill>
                <a:latin typeface="Aptos"/>
              </a:rPr>
              <a:t>Backend routes, APIs, authentication and application logic.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70048"/>
            <a:ext cx="5230368" cy="877824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2807208"/>
            <a:ext cx="475488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F5F5FF"/>
                </a:solidFill>
                <a:latin typeface="Aptos"/>
              </a:rPr>
              <a:t>PostgreSQL / Neon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136391"/>
            <a:ext cx="4754880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A6A9BE"/>
                </a:solidFill>
                <a:latin typeface="Aptos"/>
              </a:rPr>
              <a:t>Persistent user accounts and authentication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670048"/>
            <a:ext cx="5230368" cy="877824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91655" y="2807208"/>
            <a:ext cx="475488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F5F5FF"/>
                </a:solidFill>
                <a:latin typeface="Aptos"/>
              </a:rPr>
              <a:t>Google Gemini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5" y="3136391"/>
            <a:ext cx="4754880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A6A9BE"/>
                </a:solidFill>
                <a:latin typeface="Aptos"/>
              </a:rPr>
              <a:t>AI Campus Assistant with campus-aware system instructions.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67328"/>
            <a:ext cx="5230368" cy="877824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3904488"/>
            <a:ext cx="475488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F5F5FF"/>
                </a:solidFill>
                <a:latin typeface="Aptos"/>
              </a:rPr>
              <a:t>Leaflet + OpenStreetMap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233672"/>
            <a:ext cx="4754880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A6A9BE"/>
                </a:solidFill>
                <a:latin typeface="Aptos"/>
              </a:rPr>
              <a:t>Interactive campus and nearby-place map.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3767328"/>
            <a:ext cx="5230368" cy="877824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91655" y="3904488"/>
            <a:ext cx="475488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F5F5FF"/>
                </a:solidFill>
                <a:latin typeface="Aptos"/>
              </a:rPr>
              <a:t>Overpass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5" y="4233672"/>
            <a:ext cx="4754880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A6A9BE"/>
                </a:solidFill>
                <a:latin typeface="Aptos"/>
              </a:rPr>
              <a:t>Queries map data for useful nearby categories.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864607"/>
            <a:ext cx="5230368" cy="877824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" y="5001768"/>
            <a:ext cx="475488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F5F5FF"/>
                </a:solidFill>
                <a:latin typeface="Aptos"/>
              </a:rPr>
              <a:t>Werkzeug + itsdangerous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5330951"/>
            <a:ext cx="4754880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A6A9BE"/>
                </a:solidFill>
                <a:latin typeface="Aptos"/>
              </a:rPr>
              <a:t>Password hashing and signed, time-limited auth tokens.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4864607"/>
            <a:ext cx="5230368" cy="877824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91655" y="5001768"/>
            <a:ext cx="475488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F5F5FF"/>
                </a:solidFill>
                <a:latin typeface="Aptos"/>
              </a:rPr>
              <a:t>Gunicorn + Render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5" y="5330951"/>
            <a:ext cx="4754880" cy="23774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A6A9BE"/>
                </a:solidFill>
                <a:latin typeface="Aptos"/>
              </a:rPr>
              <a:t>Production WSGI server and cloud deployment.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A6A9BE"/>
                </a:solidFill>
                <a:latin typeface="Aptos"/>
              </a:rPr>
              <a:t>CampusGuide AI  •  Hackathon MVP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43891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0D7F5"/>
                </a:solidFill>
                <a:latin typeface="Aptos"/>
              </a:rPr>
              <a:t>ORIGINAL WEBSITE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5669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5F5FF"/>
                </a:solidFill>
                <a:latin typeface="Aptos"/>
              </a:rPr>
              <a:t>Snapshots of the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30352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A6A9BE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11018520" cy="10972"/>
          </a:xfrm>
          <a:prstGeom prst="rect">
            <a:avLst/>
          </a:prstGeom>
          <a:solidFill>
            <a:srgbClr val="39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90472"/>
            <a:ext cx="1042416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A6A9BE"/>
                </a:solidFill>
                <a:latin typeface="Aptos"/>
              </a:rPr>
              <a:t>The following visuals are the original screenshots provided for the presentation.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01952"/>
            <a:ext cx="3584448" cy="4160520"/>
          </a:xfrm>
          <a:prstGeom prst="roundRect">
            <a:avLst/>
          </a:prstGeom>
          <a:solidFill>
            <a:srgbClr val="0E0E21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 2026-10-04 1408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3166206"/>
            <a:ext cx="3511296" cy="163201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370832" y="1901952"/>
            <a:ext cx="3584448" cy="4160520"/>
          </a:xfrm>
          <a:prstGeom prst="roundRect">
            <a:avLst/>
          </a:prstGeom>
          <a:solidFill>
            <a:srgbClr val="0E0E21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creenshot 2026-10-04 1408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3157964"/>
            <a:ext cx="3511296" cy="164849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83296" y="1901952"/>
            <a:ext cx="3456432" cy="4160520"/>
          </a:xfrm>
          <a:prstGeom prst="roundRect">
            <a:avLst/>
          </a:prstGeom>
          <a:solidFill>
            <a:srgbClr val="0E0E21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creenshot 2026-10-04 1409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1" y="3173895"/>
            <a:ext cx="3383279" cy="16166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A6A9BE"/>
                </a:solidFill>
                <a:latin typeface="Aptos"/>
              </a:rPr>
              <a:t>CampusGuide AI  •  Hackathon MVP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43891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0D7F5"/>
                </a:solidFill>
                <a:latin typeface="Aptos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5669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5F5FF"/>
                </a:solidFill>
                <a:latin typeface="Aptos"/>
              </a:rPr>
              <a:t>Additional details &amp; future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30352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A6A9BE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11018520" cy="10972"/>
          </a:xfrm>
          <a:prstGeom prst="rect">
            <a:avLst/>
          </a:prstGeom>
          <a:solidFill>
            <a:srgbClr val="39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401568" cy="1828800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755648"/>
            <a:ext cx="347472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20D7F5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5" y="1764792"/>
            <a:ext cx="265176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5F5FF"/>
                </a:solidFill>
                <a:latin typeface="Aptos"/>
              </a:rPr>
              <a:t>Live campus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240280"/>
            <a:ext cx="2954399" cy="5678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0" i="0" dirty="0">
                <a:solidFill>
                  <a:srgbClr val="A6A9BE"/>
                </a:solidFill>
                <a:latin typeface="Aptos"/>
              </a:rPr>
              <a:t>Move more information from static MVP data</a:t>
            </a:r>
            <a:endParaRPr lang="en-US" sz="115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150" b="0" i="0" dirty="0">
                <a:solidFill>
                  <a:srgbClr val="A6A9BE"/>
                </a:solidFill>
                <a:latin typeface="Aptos"/>
              </a:rPr>
              <a:t> into an admin-managed database so updates</a:t>
            </a:r>
            <a:endParaRPr lang="en-US" sz="115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150" b="0" i="0" dirty="0">
                <a:solidFill>
                  <a:srgbClr val="A6A9BE"/>
                </a:solidFill>
                <a:latin typeface="Aptos"/>
              </a:rPr>
              <a:t> can happen without code changes.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01568" cy="1828800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755648"/>
            <a:ext cx="347472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9050F5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64792"/>
            <a:ext cx="265176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5F5FF"/>
                </a:solidFill>
                <a:latin typeface="Aptos"/>
              </a:rPr>
              <a:t>Richer contacts &amp; hostel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240280"/>
            <a:ext cx="3031343" cy="5678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0" i="0" dirty="0">
                <a:solidFill>
                  <a:srgbClr val="A6A9BE"/>
                </a:solidFill>
                <a:latin typeface="Aptos"/>
              </a:rPr>
              <a:t>Add verified phone numbers, wardens, timings,</a:t>
            </a:r>
            <a:endParaRPr lang="en-US" sz="115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150" b="0" i="0" dirty="0">
                <a:solidFill>
                  <a:srgbClr val="A6A9BE"/>
                </a:solidFill>
                <a:latin typeface="Aptos"/>
              </a:rPr>
              <a:t> hostel rules and office hours as authoritative </a:t>
            </a:r>
            <a:endParaRPr lang="en-US" sz="115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150" b="0" i="0" dirty="0">
                <a:solidFill>
                  <a:srgbClr val="A6A9BE"/>
                </a:solidFill>
                <a:latin typeface="Aptos"/>
              </a:rPr>
              <a:t>data becomes available.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600200"/>
            <a:ext cx="3401568" cy="1828800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755648"/>
            <a:ext cx="347472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EF3FCC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764792"/>
            <a:ext cx="265176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5F5FF"/>
                </a:solidFill>
                <a:latin typeface="Aptos"/>
              </a:rPr>
              <a:t>Smarter campus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240280"/>
            <a:ext cx="3154774" cy="5678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0" i="0" dirty="0">
                <a:solidFill>
                  <a:srgbClr val="A6A9BE"/>
                </a:solidFill>
                <a:latin typeface="Aptos"/>
              </a:rPr>
              <a:t>Add semantic search and retrieval so the</a:t>
            </a:r>
            <a:endParaRPr lang="en-US" sz="115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150" b="0" i="0" dirty="0">
                <a:solidFill>
                  <a:srgbClr val="A6A9BE"/>
                </a:solidFill>
                <a:latin typeface="Aptos"/>
              </a:rPr>
              <a:t> assistant can answer from a larger, continuously</a:t>
            </a:r>
            <a:endParaRPr lang="en-US" sz="115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150" b="0" i="0" dirty="0">
                <a:solidFill>
                  <a:srgbClr val="A6A9BE"/>
                </a:solidFill>
                <a:latin typeface="Aptos"/>
              </a:rPr>
              <a:t> updated campus knowledge base.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03320"/>
            <a:ext cx="3401568" cy="1828800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3858768"/>
            <a:ext cx="347472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47DEA5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5" y="3867911"/>
            <a:ext cx="265176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5F5FF"/>
                </a:solidFill>
                <a:latin typeface="Aptos"/>
              </a:rPr>
              <a:t>Personalized student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4343400"/>
            <a:ext cx="3034549" cy="39087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0" i="0" dirty="0">
                <a:solidFill>
                  <a:srgbClr val="A6A9BE"/>
                </a:solidFill>
                <a:latin typeface="Aptos"/>
              </a:rPr>
              <a:t>Saved places, favorite clubs, event reminders a</a:t>
            </a:r>
            <a:endParaRPr lang="en-US" sz="115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150" b="0" i="0" dirty="0" err="1">
                <a:solidFill>
                  <a:srgbClr val="A6A9BE"/>
                </a:solidFill>
                <a:latin typeface="Aptos"/>
              </a:rPr>
              <a:t>nd</a:t>
            </a:r>
            <a:r>
              <a:rPr sz="1150" b="0" i="0" dirty="0">
                <a:solidFill>
                  <a:srgbClr val="A6A9BE"/>
                </a:solidFill>
                <a:latin typeface="Aptos"/>
              </a:rPr>
              <a:t> personalized campus shortcuts.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703320"/>
            <a:ext cx="3401568" cy="1828800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858768"/>
            <a:ext cx="347472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20D7F5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048" y="3867911"/>
            <a:ext cx="265176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5F5FF"/>
                </a:solidFill>
                <a:latin typeface="Aptos"/>
              </a:rPr>
              <a:t>Navigation &amp; accessibility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4343400"/>
            <a:ext cx="2712346" cy="5678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0" i="0" dirty="0">
                <a:solidFill>
                  <a:srgbClr val="A6A9BE"/>
                </a:solidFill>
                <a:latin typeface="Aptos"/>
              </a:rPr>
              <a:t>Improve route guidance, mobile UX, voice </a:t>
            </a:r>
            <a:endParaRPr lang="en-US" sz="115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150" b="0" i="0" dirty="0">
                <a:solidFill>
                  <a:srgbClr val="A6A9BE"/>
                </a:solidFill>
                <a:latin typeface="Aptos"/>
              </a:rPr>
              <a:t>interaction and accessibility for faster </a:t>
            </a:r>
            <a:endParaRPr lang="en-US" sz="115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150" b="0" i="0" dirty="0">
                <a:solidFill>
                  <a:srgbClr val="A6A9BE"/>
                </a:solidFill>
                <a:latin typeface="Aptos"/>
              </a:rPr>
              <a:t>on-campus use.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2" y="3703320"/>
            <a:ext cx="3401568" cy="1828800"/>
          </a:xfrm>
          <a:prstGeom prst="roundRect">
            <a:avLst/>
          </a:prstGeom>
          <a:solidFill>
            <a:srgbClr val="15152B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02752" y="3858768"/>
            <a:ext cx="347472" cy="32918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9050F5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867911"/>
            <a:ext cx="265176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5F5FF"/>
                </a:solidFill>
                <a:latin typeface="Aptos"/>
              </a:rPr>
              <a:t>Admin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4343400"/>
            <a:ext cx="2584105" cy="5678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50" b="0" i="0" dirty="0">
                <a:solidFill>
                  <a:srgbClr val="A6A9BE"/>
                </a:solidFill>
                <a:latin typeface="Aptos"/>
              </a:rPr>
              <a:t>Usage insights for frequently searched </a:t>
            </a:r>
            <a:endParaRPr lang="en-US" sz="115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150" b="0" i="0" dirty="0">
                <a:solidFill>
                  <a:srgbClr val="A6A9BE"/>
                </a:solidFill>
                <a:latin typeface="Aptos"/>
              </a:rPr>
              <a:t>departments, clubs and locations while </a:t>
            </a:r>
            <a:endParaRPr lang="en-US" sz="1150" b="0" i="0" dirty="0">
              <a:solidFill>
                <a:srgbClr val="A6A9BE"/>
              </a:solidFill>
              <a:latin typeface="Aptos"/>
            </a:endParaRPr>
          </a:p>
          <a:p>
            <a:pPr algn="l"/>
            <a:r>
              <a:rPr sz="1150" b="0" i="0" dirty="0">
                <a:solidFill>
                  <a:srgbClr val="A6A9BE"/>
                </a:solidFill>
                <a:latin typeface="Aptos"/>
              </a:rPr>
              <a:t>keeping student data protected.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A6A9BE"/>
                </a:solidFill>
                <a:latin typeface="Aptos"/>
              </a:rPr>
              <a:t>CampusGuide AI  •  Hackathon MVP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43891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0D7F5"/>
                </a:solidFill>
                <a:latin typeface="Aptos"/>
              </a:rPr>
              <a:t>EXPLORE THE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424160" cy="5669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5F5FF"/>
                </a:solidFill>
                <a:latin typeface="Aptos"/>
              </a:rPr>
              <a:t>Project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47472"/>
            <a:ext cx="530352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A6A9BE"/>
                </a:solidFill>
                <a:latin typeface="Aptos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11018520" cy="10972"/>
          </a:xfrm>
          <a:prstGeom prst="rect">
            <a:avLst/>
          </a:prstGeom>
          <a:solidFill>
            <a:srgbClr val="39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783080"/>
            <a:ext cx="457200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5F5FF"/>
                </a:solidFill>
                <a:latin typeface="Aptos"/>
              </a:rPr>
              <a:t>1. GitHub Public Repository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331720"/>
            <a:ext cx="10698480" cy="749808"/>
          </a:xfrm>
          <a:prstGeom prst="roundRect">
            <a:avLst/>
          </a:prstGeom>
          <a:solidFill>
            <a:srgbClr val="1C1B35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hlinkClick r:id="rId2"/>
          </p:cNvPr>
          <p:cNvSpPr txBox="1"/>
          <p:nvPr/>
        </p:nvSpPr>
        <p:spPr>
          <a:xfrm>
            <a:off x="987552" y="2523744"/>
            <a:ext cx="1014984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0D7F5"/>
                </a:solidFill>
                <a:latin typeface="Aptos"/>
              </a:rPr>
              <a:t>https://github.com/kamandas-108/CampusGuide-AI/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493008"/>
            <a:ext cx="457200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5F5FF"/>
                </a:solidFill>
                <a:latin typeface="Aptos"/>
              </a:rPr>
              <a:t>2. Working Prototype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041648"/>
            <a:ext cx="10698480" cy="749808"/>
          </a:xfrm>
          <a:prstGeom prst="roundRect">
            <a:avLst/>
          </a:prstGeom>
          <a:solidFill>
            <a:srgbClr val="1C1B35"/>
          </a:solidFill>
          <a:ln w="10160">
            <a:solidFill>
              <a:srgbClr val="39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hlinkClick r:id="rId3"/>
          </p:cNvPr>
          <p:cNvSpPr txBox="1"/>
          <p:nvPr/>
        </p:nvSpPr>
        <p:spPr>
          <a:xfrm>
            <a:off x="987552" y="4233672"/>
            <a:ext cx="10149840" cy="31089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EF3FCC"/>
                </a:solidFill>
                <a:latin typeface="Aptos"/>
              </a:rPr>
              <a:t>https://campusguide-ai-ui78.onrender.com/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230368"/>
            <a:ext cx="1051560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A6A9BE"/>
                </a:solidFill>
                <a:latin typeface="Aptos"/>
              </a:rPr>
              <a:t>Scan, click or copy the links to inspect the code and try the deployed MVP.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A6A9BE"/>
                </a:solidFill>
                <a:latin typeface="Aptos"/>
              </a:rPr>
              <a:t>CampusGuide AI  •  Hackathon MVP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03920" y="822960"/>
            <a:ext cx="2926080" cy="2926080"/>
          </a:xfrm>
          <a:prstGeom prst="ellipse">
            <a:avLst/>
          </a:prstGeom>
          <a:solidFill>
            <a:srgbClr val="905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48640" y="4389120"/>
            <a:ext cx="2560320" cy="2560320"/>
          </a:xfrm>
          <a:prstGeom prst="ellipse">
            <a:avLst/>
          </a:prstGeom>
          <a:solidFill>
            <a:srgbClr val="20D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789920" cy="8229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4000" b="1" i="0">
                <a:solidFill>
                  <a:srgbClr val="F5F5FF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1078992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20D7F5"/>
                </a:solidFill>
                <a:latin typeface="Aptos"/>
              </a:rPr>
              <a:t>CampusGuide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47872"/>
            <a:ext cx="1078992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A6A9BE"/>
                </a:solidFill>
                <a:latin typeface="Aptos"/>
              </a:rPr>
              <a:t>Your whole campus, one AI away.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78992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5F5FF"/>
                </a:solidFill>
                <a:latin typeface="Aptos"/>
              </a:rPr>
              <a:t>Ask your campus anything.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47104"/>
            <a:ext cx="457200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A6A9BE"/>
                </a:solidFill>
                <a:latin typeface="Aptos"/>
              </a:rPr>
              <a:t>CampusGuide AI  •  Hackathon MVP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1081</Words>
  <Application>Microsoft Office PowerPoint</Application>
  <PresentationFormat>Widescreen</PresentationFormat>
  <Paragraphs>222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CampusGuide AI — Hackathon Presentation</dc:title>
  <dc:subject>Campus and student life AI companion</dc:subject>
  <dc:creator>My</dc:creator>
  <cp:keywords>CampusGuide AI, ITER, SOA, AI, Flask, Gemini, PostgreSQL</cp:keywords>
  <dc:description>generated using python-pptx</dc:description>
  <cp:lastModifiedBy>Kaman Das</cp:lastModifiedBy>
  <cp:revision>2</cp:revision>
  <dcterms:created xsi:type="dcterms:W3CDTF">2013-01-27T09:14:16Z</dcterms:created>
  <dcterms:modified xsi:type="dcterms:W3CDTF">2026-10-04T08:52:22Z</dcterms:modified>
  <cp:category/>
</cp:coreProperties>
</file>